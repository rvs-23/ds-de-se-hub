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777" r:id="rId1"/>
  </p:sldMasterIdLst>
  <p:notesMasterIdLst>
    <p:notesMasterId r:id="rId11"/>
  </p:notesMasterIdLst>
  <p:handoutMasterIdLst>
    <p:handoutMasterId r:id="rId12"/>
  </p:handoutMasterIdLst>
  <p:sldIdLst>
    <p:sldId id="296" r:id="rId2"/>
    <p:sldId id="294" r:id="rId3"/>
    <p:sldId id="295" r:id="rId4"/>
    <p:sldId id="297" r:id="rId5"/>
    <p:sldId id="298" r:id="rId6"/>
    <p:sldId id="299" r:id="rId7"/>
    <p:sldId id="300" r:id="rId8"/>
    <p:sldId id="301" r:id="rId9"/>
    <p:sldId id="30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264" userDrawn="1">
          <p15:clr>
            <a:srgbClr val="A4A3A4"/>
          </p15:clr>
        </p15:guide>
        <p15:guide id="2" orient="horz" pos="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CCF6"/>
    <a:srgbClr val="E0B1E9"/>
    <a:srgbClr val="E9FCFD"/>
    <a:srgbClr val="D5BAEB"/>
    <a:srgbClr val="8E9DEF"/>
    <a:srgbClr val="A6EDD2"/>
    <a:srgbClr val="A3E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2" autoAdjust="0"/>
    <p:restoredTop sz="96327" autoAdjust="0"/>
  </p:normalViewPr>
  <p:slideViewPr>
    <p:cSldViewPr snapToGrid="0">
      <p:cViewPr varScale="1">
        <p:scale>
          <a:sx n="64" d="100"/>
          <a:sy n="64" d="100"/>
        </p:scale>
        <p:origin x="928" y="36"/>
      </p:cViewPr>
      <p:guideLst>
        <p:guide pos="6264"/>
        <p:guide orient="horz" pos="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2C5104-B160-49CA-BBEA-F89DC47F2E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A77B3F-59DC-4CD3-9EDD-457BB0F4ED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AD89C-BB88-48A3-A1C9-D13CF625B286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14D80-1829-4047-8B70-CA13F85B2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C54F4-FD5F-49B3-9277-2EBC1373BA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7205A-E1E8-4792-BFE4-BDA008854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826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D09F21-8F1F-4129-8AEA-7EF5D9ADF331}" type="datetimeFigureOut">
              <a:rPr lang="en-US" smtClean="0"/>
              <a:t>7/26/2023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2C31BA-67D8-413F-A5DD-028125073D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08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2C31BA-67D8-413F-A5DD-028125073D1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0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0DBFB-B27A-4152-B93B-E0544768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7/26/2023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609EE-8677-453E-B000-7C9D37C3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346EE-7757-43D9-8F90-C5A66E3A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128637-293C-4F87-8D53-0BE4379C8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337" y="310287"/>
            <a:ext cx="5238313" cy="853352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BCAE7BC-9D1D-42BA-A132-117B58540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3337" y="981076"/>
            <a:ext cx="3581400" cy="365126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5736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0DBFB-B27A-4152-B93B-E0544768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7/26/2023</a:t>
            </a:fld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609EE-8677-453E-B000-7C9D37C3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346EE-7757-43D9-8F90-C5A66E3A8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128637-293C-4F87-8D53-0BE4379C8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337" y="310287"/>
            <a:ext cx="5238313" cy="853352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BCAE7BC-9D1D-42BA-A132-117B58540C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3337" y="981076"/>
            <a:ext cx="3581400" cy="365126"/>
          </a:xfrm>
        </p:spPr>
        <p:txBody>
          <a:bodyPr>
            <a:normAutofit/>
          </a:bodyPr>
          <a:lstStyle>
            <a:lvl1pPr marL="0" indent="0">
              <a:spcBef>
                <a:spcPts val="900"/>
              </a:spcBef>
              <a:buNone/>
              <a:defRPr sz="2000" b="1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001FCC3-C0B6-411C-97C8-DCB57E6D3D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1470027"/>
            <a:ext cx="1148715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451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2D4183-9737-47D0-A399-C54D7F7C4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3A5CB-DFC3-4FD4-B13D-480B9D577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0C37A-64D2-409F-A58F-B4B1F1F34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29172-4BF7-429F-BA25-7E9D1A4215EE}" type="datetimeFigureOut">
              <a:rPr lang="en-US" noProof="0" smtClean="0"/>
              <a:t>7/26/2023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4EBE4-7608-464D-BFA2-97741404D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BEC42-CA83-4077-8D77-E2514DA72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761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90" r:id="rId1"/>
    <p:sldLayoutId id="214748479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ourses.lumenlearning.com/sanjac-earthscience/chapter/introduction-to-the-solar-system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hyperlink" Target="https://pixabay.com/en/crystal-structure-nacl-chemical-148812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ixabay.com/en/connect-connection-cooperation-2777610/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stats.libretexts.org/Textbook_Maps/General_Statistics/Shafer_and_Zhang's_Introductory_Statistics/05:_Continuous_Random_Variables/5.2_The_Standard_Normal_Distribution" TargetMode="External"/><Relationship Id="rId4" Type="http://schemas.openxmlformats.org/officeDocument/2006/relationships/hyperlink" Target="https://www.pngall.com/question-mark-png/download/29863" TargetMode="External"/><Relationship Id="rId9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esmos.com/calculato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3">
            <a:extLst>
              <a:ext uri="{FF2B5EF4-FFF2-40B4-BE49-F238E27FC236}">
                <a16:creationId xmlns:a16="http://schemas.microsoft.com/office/drawing/2014/main" id="{1F62235B-4036-0656-B825-557E16ED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37" y="310287"/>
            <a:ext cx="5238313" cy="853352"/>
          </a:xfrm>
        </p:spPr>
        <p:txBody>
          <a:bodyPr>
            <a:normAutofit/>
          </a:bodyPr>
          <a:lstStyle/>
          <a:p>
            <a:r>
              <a:rPr lang="en-US" dirty="0"/>
              <a:t>DS Challenge #4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441EC-1961-6717-F16F-4AC770033D8D}"/>
              </a:ext>
            </a:extLst>
          </p:cNvPr>
          <p:cNvSpPr txBox="1"/>
          <p:nvPr/>
        </p:nvSpPr>
        <p:spPr>
          <a:xfrm>
            <a:off x="384901" y="1009750"/>
            <a:ext cx="30310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the most interesting challenge yet...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72DF3-B3E9-D927-ECFF-E2070BCA7806}"/>
              </a:ext>
            </a:extLst>
          </p:cNvPr>
          <p:cNvSpPr txBox="1"/>
          <p:nvPr/>
        </p:nvSpPr>
        <p:spPr>
          <a:xfrm>
            <a:off x="842361" y="2163441"/>
            <a:ext cx="490711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pd.Series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(contents)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1    Clustering types?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2    Observations?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3    Experiments!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4    Manual algorithm building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5    Mentos moment(s) :D</a:t>
            </a:r>
          </a:p>
        </p:txBody>
      </p:sp>
      <p:pic>
        <p:nvPicPr>
          <p:cNvPr id="15" name="Graphic 14" descr="Target">
            <a:extLst>
              <a:ext uri="{FF2B5EF4-FFF2-40B4-BE49-F238E27FC236}">
                <a16:creationId xmlns:a16="http://schemas.microsoft.com/office/drawing/2014/main" id="{9D3ACA41-CEAA-7E34-0443-6BCE087AD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0352" y="1163638"/>
            <a:ext cx="5138928" cy="51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90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A42482C2-FFF2-4099-8F3D-58525489A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85D686F-B6DA-4B2F-91CF-0F5913432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5166990" y="1073512"/>
            <a:ext cx="731520" cy="73152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12543CF-3BD4-40B0-BB18-006DCC4331CA}"/>
              </a:ext>
            </a:extLst>
          </p:cNvPr>
          <p:cNvSpPr/>
          <p:nvPr/>
        </p:nvSpPr>
        <p:spPr>
          <a:xfrm>
            <a:off x="5887420" y="1072397"/>
            <a:ext cx="1127551" cy="731520"/>
          </a:xfrm>
          <a:prstGeom prst="rect">
            <a:avLst/>
          </a:prstGeom>
          <a:solidFill>
            <a:schemeClr val="bg2">
              <a:lumMod val="9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tx1"/>
                </a:solidFill>
              </a:rPr>
              <a:t>CLUSTERING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tx1"/>
                </a:solidFill>
              </a:rPr>
              <a:t>      TYPES</a:t>
            </a:r>
            <a:endParaRPr lang="en-US" sz="800" dirty="0">
              <a:solidFill>
                <a:schemeClr val="tx1"/>
              </a:solidFill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6401D5FC-708E-46F0-B1A7-EDF5D23D9F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6667" r="16667"/>
          <a:stretch/>
        </p:blipFill>
        <p:spPr>
          <a:xfrm>
            <a:off x="343336" y="2454480"/>
            <a:ext cx="709200" cy="709200"/>
          </a:xfrm>
          <a:prstGeom prst="rect">
            <a:avLst/>
          </a:prstGeom>
          <a:ln>
            <a:noFill/>
          </a:ln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D15CED98-1062-4FFA-ABCE-E817372291D5}"/>
              </a:ext>
            </a:extLst>
          </p:cNvPr>
          <p:cNvSpPr/>
          <p:nvPr/>
        </p:nvSpPr>
        <p:spPr>
          <a:xfrm>
            <a:off x="1032513" y="2442894"/>
            <a:ext cx="1127551" cy="7315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tx2">
                    <a:lumMod val="50000"/>
                  </a:schemeClr>
                </a:solidFill>
              </a:rPr>
              <a:t>Connectivity-Based 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dirty="0">
                <a:solidFill>
                  <a:schemeClr val="tx1"/>
                </a:solidFill>
              </a:rPr>
              <a:t>Hierarchical</a:t>
            </a:r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075AB11-BAD3-42E5-BC8F-B1153E21F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9156" y="2961409"/>
            <a:ext cx="0" cy="1578912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04FCC3-2EDB-4E98-AD3D-D5848AE13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99156" y="3717361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4CD3FD-4CA2-4C9C-89C8-73F04D56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05339" y="4536511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93299AE-BEEA-4E5E-88CB-50F2F112D78D}"/>
              </a:ext>
            </a:extLst>
          </p:cNvPr>
          <p:cNvSpPr/>
          <p:nvPr/>
        </p:nvSpPr>
        <p:spPr>
          <a:xfrm>
            <a:off x="759837" y="3356139"/>
            <a:ext cx="1371600" cy="8353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tx2">
                    <a:lumMod val="50000"/>
                  </a:schemeClr>
                </a:solidFill>
              </a:rPr>
              <a:t>Based on computation of distances b/w the elements of the dataset.</a:t>
            </a:r>
            <a:endParaRPr lang="en-US" sz="9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FAA6D807-4CE2-48FA-84BD-6FF8AA2943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2083" r="2083"/>
          <a:stretch/>
        </p:blipFill>
        <p:spPr>
          <a:xfrm>
            <a:off x="3574038" y="2454734"/>
            <a:ext cx="709200" cy="709200"/>
          </a:xfrm>
          <a:prstGeom prst="rect">
            <a:avLst/>
          </a:prstGeom>
          <a:ln>
            <a:noFill/>
          </a:ln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1FE5B89F-78FC-4805-819B-77211B0B739B}"/>
              </a:ext>
            </a:extLst>
          </p:cNvPr>
          <p:cNvSpPr/>
          <p:nvPr/>
        </p:nvSpPr>
        <p:spPr>
          <a:xfrm>
            <a:off x="4273686" y="2443228"/>
            <a:ext cx="1127551" cy="731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Centroid-based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900" dirty="0">
                <a:solidFill>
                  <a:schemeClr val="tx1"/>
                </a:solidFill>
              </a:rPr>
              <a:t>K-means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15A627E-A616-4B35-A822-BCD857D05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62217" y="3168721"/>
            <a:ext cx="0" cy="59436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8000C8A-C564-4106-9005-252681A7F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80760" y="2252899"/>
            <a:ext cx="0" cy="18288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3FE68B-D6B3-4422-B31A-4154C1A2B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851827" y="3759271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1AC151D-872D-4D73-AE29-952F653257C0}"/>
              </a:ext>
            </a:extLst>
          </p:cNvPr>
          <p:cNvSpPr/>
          <p:nvPr/>
        </p:nvSpPr>
        <p:spPr>
          <a:xfrm>
            <a:off x="3988987" y="3443040"/>
            <a:ext cx="1371600" cy="8353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Assign points to randomly chosen centroids based on their proximity to form clusters.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99176F8-BEEF-4A37-97C9-A7E859221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5679" y="3168721"/>
            <a:ext cx="0" cy="228600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E9B743-2518-4E9D-9AE1-3998DBFBC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135679" y="3755461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5B40D0C-F84E-4462-89E4-D6DB85AB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138052" y="4570801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4CBFD5-6012-4BE2-83ED-90867D52F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127659" y="5451617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id="{FE09A42B-B16F-493B-B874-83A635E2D6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l="20317" r="20317"/>
          <a:stretch/>
        </p:blipFill>
        <p:spPr>
          <a:xfrm>
            <a:off x="6793933" y="2436571"/>
            <a:ext cx="731520" cy="73152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A59FE4D4-A06B-4A82-A877-CA0F54ACC872}"/>
              </a:ext>
            </a:extLst>
          </p:cNvPr>
          <p:cNvSpPr/>
          <p:nvPr/>
        </p:nvSpPr>
        <p:spPr>
          <a:xfrm>
            <a:off x="7524754" y="2435456"/>
            <a:ext cx="1127551" cy="7315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Expectation-maximization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900" dirty="0">
                <a:solidFill>
                  <a:schemeClr val="tx1"/>
                </a:solidFill>
              </a:rPr>
              <a:t>GMM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373F713-1680-4734-878B-86B182DC5AA6}"/>
              </a:ext>
            </a:extLst>
          </p:cNvPr>
          <p:cNvSpPr/>
          <p:nvPr/>
        </p:nvSpPr>
        <p:spPr>
          <a:xfrm>
            <a:off x="7258895" y="3356285"/>
            <a:ext cx="1369985" cy="731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Calculates probability of each point belonging to a specific cluster.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EFA9A02-F4DD-44E9-86C2-C8ADA3189685}"/>
              </a:ext>
            </a:extLst>
          </p:cNvPr>
          <p:cNvSpPr/>
          <p:nvPr/>
        </p:nvSpPr>
        <p:spPr>
          <a:xfrm>
            <a:off x="7258895" y="4191478"/>
            <a:ext cx="1371600" cy="904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Advantage is that we can classify points into multiple clusters based on probabilities.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E16D351-7B7B-4FCF-8D90-11468672A1EC}"/>
              </a:ext>
            </a:extLst>
          </p:cNvPr>
          <p:cNvSpPr/>
          <p:nvPr/>
        </p:nvSpPr>
        <p:spPr>
          <a:xfrm>
            <a:off x="7257282" y="5192213"/>
            <a:ext cx="1371600" cy="1146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Disadvantages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 a) it requires number of clusters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b) assumes normality of features</a:t>
            </a:r>
            <a:endParaRPr lang="en-US" sz="900" b="1" dirty="0">
              <a:solidFill>
                <a:schemeClr val="tx1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0A5E395-38A3-4ED8-A1C1-7892BF5B1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393392" y="3168721"/>
            <a:ext cx="0" cy="54864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BC24AD9F-130E-4ECB-9C70-2B3233EBF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77532" y="2397965"/>
            <a:ext cx="114414" cy="85961"/>
          </a:xfrm>
          <a:prstGeom prst="ellipse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C54223A-2F2C-4434-A30B-92D8CEE93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0800000" flipV="1">
            <a:off x="1222489" y="2249089"/>
            <a:ext cx="4826106" cy="187772"/>
          </a:xfrm>
          <a:prstGeom prst="bentConnector2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185DC171-E6CD-4880-8EF4-7E0DB7F6C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22325" y="2249089"/>
            <a:ext cx="4971142" cy="252758"/>
          </a:xfrm>
          <a:prstGeom prst="bentConnector3">
            <a:avLst>
              <a:gd name="adj1" fmla="val 100252"/>
            </a:avLst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92CA40FF-E75F-4233-A382-4E9DE1FAC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33550" y="2249089"/>
            <a:ext cx="0" cy="18288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B2075F3-49F1-4561-B16C-A60D139B4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089286" y="1794115"/>
            <a:ext cx="1" cy="45720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77B15D-B0DE-401C-93B7-D8352DEE6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0389582" y="3717361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81">
            <a:extLst>
              <a:ext uri="{FF2B5EF4-FFF2-40B4-BE49-F238E27FC236}">
                <a16:creationId xmlns:a16="http://schemas.microsoft.com/office/drawing/2014/main" id="{4719D79C-E01F-499D-BBB7-D4D5A66519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l="4430" r="4430"/>
          <a:stretch/>
        </p:blipFill>
        <p:spPr>
          <a:xfrm>
            <a:off x="10049402" y="2435433"/>
            <a:ext cx="731520" cy="73152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309685E0-1738-48A3-B513-35D9047572B0}"/>
              </a:ext>
            </a:extLst>
          </p:cNvPr>
          <p:cNvSpPr/>
          <p:nvPr/>
        </p:nvSpPr>
        <p:spPr>
          <a:xfrm>
            <a:off x="10769832" y="2434318"/>
            <a:ext cx="1127551" cy="7315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</a:rPr>
              <a:t>Density-based</a:t>
            </a:r>
          </a:p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900" dirty="0">
                <a:solidFill>
                  <a:schemeClr val="tx1"/>
                </a:solidFill>
              </a:rPr>
              <a:t>DBSCAN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D569EE8-357F-4061-8190-6041007FBE4B}"/>
              </a:ext>
            </a:extLst>
          </p:cNvPr>
          <p:cNvSpPr/>
          <p:nvPr/>
        </p:nvSpPr>
        <p:spPr>
          <a:xfrm>
            <a:off x="10512312" y="3353926"/>
            <a:ext cx="1371600" cy="13267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5">
                    <a:lumMod val="50000"/>
                  </a:schemeClr>
                </a:solidFill>
              </a:rPr>
              <a:t>Uses density to group similar data points. If element is within a sphere of a certain radius (neighborhood distance), it relates to that cluster.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9B918B-AF89-9BC5-1E11-4CBFA63AF016}"/>
              </a:ext>
            </a:extLst>
          </p:cNvPr>
          <p:cNvSpPr/>
          <p:nvPr/>
        </p:nvSpPr>
        <p:spPr>
          <a:xfrm>
            <a:off x="740622" y="4383937"/>
            <a:ext cx="1371600" cy="8353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tx2">
                    <a:lumMod val="50000"/>
                  </a:schemeClr>
                </a:solidFill>
              </a:rPr>
              <a:t>Advantage is you do not have to specify the number of clusters in the </a:t>
            </a:r>
            <a:r>
              <a:rPr lang="en-US" sz="1000" b="1" dirty="0" err="1">
                <a:solidFill>
                  <a:schemeClr val="tx2">
                    <a:lumMod val="50000"/>
                  </a:schemeClr>
                </a:solidFill>
              </a:rPr>
              <a:t>begining</a:t>
            </a:r>
            <a:r>
              <a:rPr lang="en-US" sz="1000" b="1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E7DB99-F80B-4708-DFEB-D4AAA18EB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855553" y="3717361"/>
            <a:ext cx="6666" cy="1097759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A847F22-6153-106F-A5F6-7BDEDB4AC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845163" y="4811310"/>
            <a:ext cx="274320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  <a:headEnd type="non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82D7331-621E-F934-D670-EB33EF0B3A60}"/>
              </a:ext>
            </a:extLst>
          </p:cNvPr>
          <p:cNvSpPr/>
          <p:nvPr/>
        </p:nvSpPr>
        <p:spPr>
          <a:xfrm>
            <a:off x="3985522" y="4447502"/>
            <a:ext cx="1371600" cy="8353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82880" tIns="5715" rIns="91440" bIns="54011" numCol="1" spcCol="1270" anchor="ctr" anchorCtr="0">
            <a:noAutofit/>
            <a:flatTx/>
          </a:bodyPr>
          <a:lstStyle/>
          <a:p>
            <a:pPr defTabSz="4000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000" b="1" dirty="0">
                <a:solidFill>
                  <a:schemeClr val="accent2">
                    <a:lumMod val="50000"/>
                  </a:schemeClr>
                </a:solidFill>
              </a:rPr>
              <a:t>Disadvantage is number of clusters must be known.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709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C1CF888-BBA3-3CD9-6AB9-754C5919B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82" y="738620"/>
            <a:ext cx="7174345" cy="5380759"/>
          </a:xfrm>
          <a:prstGeom prst="rect">
            <a:avLst/>
          </a:prstGeom>
        </p:spPr>
      </p:pic>
      <p:sp>
        <p:nvSpPr>
          <p:cNvPr id="7" name="Title 13">
            <a:extLst>
              <a:ext uri="{FF2B5EF4-FFF2-40B4-BE49-F238E27FC236}">
                <a16:creationId xmlns:a16="http://schemas.microsoft.com/office/drawing/2014/main" id="{CF7142C3-6522-A13C-5ABD-1E0E757D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37" y="310287"/>
            <a:ext cx="5238313" cy="853352"/>
          </a:xfrm>
        </p:spPr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EAEC7E-BAFD-E431-8F4E-115AF08A2D09}"/>
              </a:ext>
            </a:extLst>
          </p:cNvPr>
          <p:cNvSpPr txBox="1"/>
          <p:nvPr/>
        </p:nvSpPr>
        <p:spPr>
          <a:xfrm>
            <a:off x="529938" y="1407306"/>
            <a:ext cx="45512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The answer to the problem is known. Unsupervised-Supervised? Semi-supervised?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The cluster centroids look all the same. Centroid-based algorithms won’t work on the </a:t>
            </a:r>
            <a:r>
              <a:rPr lang="en-US" i="1" dirty="0"/>
              <a:t>current set of points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Number of clusters = 4. All concentric </a:t>
            </a:r>
            <a:r>
              <a:rPr lang="en-US" b="1" i="1" dirty="0"/>
              <a:t>circles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0086FF-DA5C-7E7B-952E-AA14243F070A}"/>
              </a:ext>
            </a:extLst>
          </p:cNvPr>
          <p:cNvSpPr txBox="1"/>
          <p:nvPr/>
        </p:nvSpPr>
        <p:spPr>
          <a:xfrm>
            <a:off x="8157324" y="5965490"/>
            <a:ext cx="654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err="1"/>
              <a:t>pEDA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571364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3">
            <a:extLst>
              <a:ext uri="{FF2B5EF4-FFF2-40B4-BE49-F238E27FC236}">
                <a16:creationId xmlns:a16="http://schemas.microsoft.com/office/drawing/2014/main" id="{CF7142C3-6522-A13C-5ABD-1E0E757D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37" y="310287"/>
            <a:ext cx="5238313" cy="853352"/>
          </a:xfrm>
        </p:spPr>
        <p:txBody>
          <a:bodyPr/>
          <a:lstStyle/>
          <a:p>
            <a:r>
              <a:rPr lang="en-US" dirty="0"/>
              <a:t>Experiments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4440E-05C7-7782-171F-988559D2A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35" y="1407971"/>
            <a:ext cx="3840000" cy="28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B717FC-29C4-AAD1-494C-984120B46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35" y="1407971"/>
            <a:ext cx="3840000" cy="28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CAB773-5BA1-E0B3-C47A-C4C118AA14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665" y="1407971"/>
            <a:ext cx="3840000" cy="288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6C91A61-FABD-540F-5F02-7C66246383B1}"/>
              </a:ext>
            </a:extLst>
          </p:cNvPr>
          <p:cNvSpPr txBox="1"/>
          <p:nvPr/>
        </p:nvSpPr>
        <p:spPr>
          <a:xfrm>
            <a:off x="1631372" y="4345265"/>
            <a:ext cx="1083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K-Means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CD0D90-4357-CC9B-5A6C-0156437EFADE}"/>
              </a:ext>
            </a:extLst>
          </p:cNvPr>
          <p:cNvSpPr txBox="1"/>
          <p:nvPr/>
        </p:nvSpPr>
        <p:spPr>
          <a:xfrm>
            <a:off x="5525972" y="4345265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DBSCAN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97F032-7D70-8C9E-A950-BF7D41468473}"/>
              </a:ext>
            </a:extLst>
          </p:cNvPr>
          <p:cNvSpPr txBox="1"/>
          <p:nvPr/>
        </p:nvSpPr>
        <p:spPr>
          <a:xfrm>
            <a:off x="8866643" y="4347128"/>
            <a:ext cx="2124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Agglomerative HC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509761-1905-4EA3-A1C1-DCEE3144F50D}"/>
              </a:ext>
            </a:extLst>
          </p:cNvPr>
          <p:cNvSpPr txBox="1"/>
          <p:nvPr/>
        </p:nvSpPr>
        <p:spPr>
          <a:xfrm>
            <a:off x="4237626" y="5450029"/>
            <a:ext cx="4310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ALL WRONG!!!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73313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3">
            <a:extLst>
              <a:ext uri="{FF2B5EF4-FFF2-40B4-BE49-F238E27FC236}">
                <a16:creationId xmlns:a16="http://schemas.microsoft.com/office/drawing/2014/main" id="{CF7142C3-6522-A13C-5ABD-1E0E757D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37" y="310287"/>
            <a:ext cx="5238313" cy="853352"/>
          </a:xfrm>
        </p:spPr>
        <p:txBody>
          <a:bodyPr/>
          <a:lstStyle/>
          <a:p>
            <a:r>
              <a:rPr lang="en-US" dirty="0"/>
              <a:t>Manual algorithm building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C06C78-0F78-865A-EC4E-842D8D111D76}"/>
              </a:ext>
            </a:extLst>
          </p:cNvPr>
          <p:cNvSpPr txBox="1"/>
          <p:nvPr/>
        </p:nvSpPr>
        <p:spPr>
          <a:xfrm>
            <a:off x="343337" y="1506682"/>
            <a:ext cx="11491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Potential idea</a:t>
            </a:r>
            <a:r>
              <a:rPr lang="en-US" dirty="0"/>
              <a:t>: Fit a </a:t>
            </a:r>
            <a:r>
              <a:rPr lang="en-US" u="sng" dirty="0"/>
              <a:t>CIRCLE</a:t>
            </a:r>
            <a:r>
              <a:rPr lang="en-US" dirty="0"/>
              <a:t> using some algorithm, Machine learning or otherwise. Classify all points that fall on a circle as a cluster.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65EBA-82D0-63EE-04F4-A5BBC4539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53013"/>
            <a:ext cx="5515263" cy="413644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3033263-528C-16C0-E1CA-5CCEB5259192}"/>
              </a:ext>
            </a:extLst>
          </p:cNvPr>
          <p:cNvSpPr/>
          <p:nvPr/>
        </p:nvSpPr>
        <p:spPr>
          <a:xfrm>
            <a:off x="7233631" y="2658061"/>
            <a:ext cx="3240000" cy="32400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5D3E8-6CA0-2253-2302-801EC59A5E2B}"/>
                  </a:ext>
                </a:extLst>
              </p:cNvPr>
              <p:cNvSpPr txBox="1"/>
              <p:nvPr/>
            </p:nvSpPr>
            <p:spPr>
              <a:xfrm>
                <a:off x="2404747" y="2908147"/>
                <a:ext cx="171376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5D3E8-6CA0-2253-2302-801EC59A5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747" y="2908147"/>
                <a:ext cx="1713765" cy="276999"/>
              </a:xfrm>
              <a:prstGeom prst="rect">
                <a:avLst/>
              </a:prstGeom>
              <a:blipFill>
                <a:blip r:embed="rId3"/>
                <a:stretch>
                  <a:fillRect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ED5F6A0-65E5-1AC5-7D83-D4B78EC25946}"/>
              </a:ext>
            </a:extLst>
          </p:cNvPr>
          <p:cNvSpPr txBox="1"/>
          <p:nvPr/>
        </p:nvSpPr>
        <p:spPr>
          <a:xfrm>
            <a:off x="1278082" y="2496056"/>
            <a:ext cx="2245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Equation of a circle: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5E6D0A-2A62-17C8-9F76-489396149E57}"/>
              </a:ext>
            </a:extLst>
          </p:cNvPr>
          <p:cNvSpPr txBox="1"/>
          <p:nvPr/>
        </p:nvSpPr>
        <p:spPr>
          <a:xfrm>
            <a:off x="2486939" y="3370436"/>
            <a:ext cx="3094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Objective</a:t>
            </a:r>
            <a:r>
              <a:rPr lang="en-US" dirty="0"/>
              <a:t>: Find ‘r’ which is the radius of the circle.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13BFCE-F252-0A34-AC98-2BC592722E3F}"/>
              </a:ext>
            </a:extLst>
          </p:cNvPr>
          <p:cNvSpPr txBox="1"/>
          <p:nvPr/>
        </p:nvSpPr>
        <p:spPr>
          <a:xfrm>
            <a:off x="343337" y="5898061"/>
            <a:ext cx="535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Click </a:t>
            </a:r>
            <a:r>
              <a:rPr lang="en-US" i="1" dirty="0">
                <a:hlinkClick r:id="rId4"/>
              </a:rPr>
              <a:t>here</a:t>
            </a:r>
            <a:r>
              <a:rPr lang="en-US" i="1" dirty="0"/>
              <a:t> to understand how the equation works.</a:t>
            </a:r>
          </a:p>
        </p:txBody>
      </p:sp>
    </p:spTree>
    <p:extLst>
      <p:ext uri="{BB962C8B-B14F-4D97-AF65-F5344CB8AC3E}">
        <p14:creationId xmlns:p14="http://schemas.microsoft.com/office/powerpoint/2010/main" val="4279291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3">
            <a:extLst>
              <a:ext uri="{FF2B5EF4-FFF2-40B4-BE49-F238E27FC236}">
                <a16:creationId xmlns:a16="http://schemas.microsoft.com/office/drawing/2014/main" id="{CF7142C3-6522-A13C-5ABD-1E0E757D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37" y="310287"/>
            <a:ext cx="5238313" cy="853352"/>
          </a:xfrm>
        </p:spPr>
        <p:txBody>
          <a:bodyPr/>
          <a:lstStyle/>
          <a:p>
            <a:r>
              <a:rPr lang="en-US" dirty="0"/>
              <a:t>Mentos moment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A487C8-F13B-F35D-EA27-49B25BB2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237" y="946438"/>
            <a:ext cx="7174345" cy="538075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38F70B0D-488F-404C-29AA-FBC0E052429E}"/>
              </a:ext>
            </a:extLst>
          </p:cNvPr>
          <p:cNvSpPr/>
          <p:nvPr/>
        </p:nvSpPr>
        <p:spPr>
          <a:xfrm>
            <a:off x="5810076" y="1813669"/>
            <a:ext cx="5220000" cy="37800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FDB9AE-CED4-42B8-8FA9-9AD0C345178C}"/>
              </a:ext>
            </a:extLst>
          </p:cNvPr>
          <p:cNvSpPr txBox="1"/>
          <p:nvPr/>
        </p:nvSpPr>
        <p:spPr>
          <a:xfrm>
            <a:off x="686884" y="1529426"/>
            <a:ext cx="45512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Is it really a circle?</a:t>
            </a:r>
          </a:p>
          <a:p>
            <a:r>
              <a:rPr lang="en-US" dirty="0"/>
              <a:t>	For a circle min(x), max(x), min(y), max(y) should all be equal.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It’s an ellipse!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5E7401-439C-3E75-E89F-878561CC4545}"/>
                  </a:ext>
                </a:extLst>
              </p:cNvPr>
              <p:cNvSpPr txBox="1"/>
              <p:nvPr/>
            </p:nvSpPr>
            <p:spPr>
              <a:xfrm>
                <a:off x="1801969" y="3006754"/>
                <a:ext cx="1918183" cy="5557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5E7401-439C-3E75-E89F-878561CC4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969" y="3006754"/>
                <a:ext cx="1918183" cy="555793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55CB83F-513F-D698-692E-05EA24A9C907}"/>
              </a:ext>
            </a:extLst>
          </p:cNvPr>
          <p:cNvSpPr txBox="1"/>
          <p:nvPr/>
        </p:nvSpPr>
        <p:spPr>
          <a:xfrm>
            <a:off x="487169" y="5636003"/>
            <a:ext cx="4547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a: major axis, half the length of x-diameter</a:t>
            </a:r>
          </a:p>
          <a:p>
            <a:r>
              <a:rPr lang="en-US" i="1" dirty="0"/>
              <a:t>b: minor axis, half the length of y-diameter</a:t>
            </a:r>
          </a:p>
        </p:txBody>
      </p:sp>
    </p:spTree>
    <p:extLst>
      <p:ext uri="{BB962C8B-B14F-4D97-AF65-F5344CB8AC3E}">
        <p14:creationId xmlns:p14="http://schemas.microsoft.com/office/powerpoint/2010/main" val="3445719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3">
            <a:extLst>
              <a:ext uri="{FF2B5EF4-FFF2-40B4-BE49-F238E27FC236}">
                <a16:creationId xmlns:a16="http://schemas.microsoft.com/office/drawing/2014/main" id="{CF7142C3-6522-A13C-5ABD-1E0E757D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37" y="310287"/>
            <a:ext cx="5238313" cy="853352"/>
          </a:xfrm>
        </p:spPr>
        <p:txBody>
          <a:bodyPr>
            <a:normAutofit fontScale="90000"/>
          </a:bodyPr>
          <a:lstStyle/>
          <a:p>
            <a:r>
              <a:rPr lang="en-US" dirty="0"/>
              <a:t>Mentos moment + Manual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C06C78-0F78-865A-EC4E-842D8D111D76}"/>
              </a:ext>
            </a:extLst>
          </p:cNvPr>
          <p:cNvSpPr txBox="1"/>
          <p:nvPr/>
        </p:nvSpPr>
        <p:spPr>
          <a:xfrm>
            <a:off x="343337" y="1506682"/>
            <a:ext cx="11491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Potential idea</a:t>
            </a:r>
            <a:r>
              <a:rPr lang="en-US" dirty="0"/>
              <a:t>: Fit an ELLIPSE using some algorithm, Machine learning or otherwise. Classify all points that fall on an ellipse as a cluster.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D5F6A0-65E5-1AC5-7D83-D4B78EC25946}"/>
              </a:ext>
            </a:extLst>
          </p:cNvPr>
          <p:cNvSpPr txBox="1"/>
          <p:nvPr/>
        </p:nvSpPr>
        <p:spPr>
          <a:xfrm>
            <a:off x="1278082" y="2496056"/>
            <a:ext cx="2509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Equation of an ellipse: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5E6D0A-2A62-17C8-9F76-489396149E57}"/>
              </a:ext>
            </a:extLst>
          </p:cNvPr>
          <p:cNvSpPr txBox="1"/>
          <p:nvPr/>
        </p:nvSpPr>
        <p:spPr>
          <a:xfrm>
            <a:off x="2486938" y="3656205"/>
            <a:ext cx="309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Objective</a:t>
            </a:r>
            <a:r>
              <a:rPr lang="en-US" dirty="0"/>
              <a:t>: Find ‘a’ and ‘b’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0C54D-C624-CC8E-107F-FC55BCBD4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264" y="2192958"/>
            <a:ext cx="5512318" cy="4134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C3255A-FECC-6C42-EB78-A2D256BE8CE5}"/>
                  </a:ext>
                </a:extLst>
              </p:cNvPr>
              <p:cNvSpPr txBox="1"/>
              <p:nvPr/>
            </p:nvSpPr>
            <p:spPr>
              <a:xfrm>
                <a:off x="2486939" y="2930534"/>
                <a:ext cx="1918183" cy="5557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C3255A-FECC-6C42-EB78-A2D256BE8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939" y="2930534"/>
                <a:ext cx="1918183" cy="555793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2309D652-7E30-2268-6494-8E99A115AAC1}"/>
              </a:ext>
            </a:extLst>
          </p:cNvPr>
          <p:cNvSpPr/>
          <p:nvPr/>
        </p:nvSpPr>
        <p:spPr>
          <a:xfrm>
            <a:off x="7359904" y="2865388"/>
            <a:ext cx="3852000" cy="28800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2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3">
            <a:extLst>
              <a:ext uri="{FF2B5EF4-FFF2-40B4-BE49-F238E27FC236}">
                <a16:creationId xmlns:a16="http://schemas.microsoft.com/office/drawing/2014/main" id="{CF7142C3-6522-A13C-5ABD-1E0E757D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37" y="310287"/>
            <a:ext cx="5238313" cy="853352"/>
          </a:xfrm>
        </p:spPr>
        <p:txBody>
          <a:bodyPr>
            <a:normAutofit fontScale="90000"/>
          </a:bodyPr>
          <a:lstStyle/>
          <a:p>
            <a:r>
              <a:rPr lang="en-US" dirty="0"/>
              <a:t>Mentos moment + Machine Learning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C06C78-0F78-865A-EC4E-842D8D111D76}"/>
              </a:ext>
            </a:extLst>
          </p:cNvPr>
          <p:cNvSpPr txBox="1"/>
          <p:nvPr/>
        </p:nvSpPr>
        <p:spPr>
          <a:xfrm>
            <a:off x="343337" y="1569028"/>
            <a:ext cx="47689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idea now is straightforward.</a:t>
            </a:r>
          </a:p>
          <a:p>
            <a:r>
              <a:rPr lang="en-US" dirty="0"/>
              <a:t>	</a:t>
            </a:r>
            <a:r>
              <a:rPr lang="en-US" b="1" i="1" dirty="0"/>
              <a:t>Feature engineering</a:t>
            </a:r>
            <a:r>
              <a:rPr lang="en-US" dirty="0"/>
              <a:t>: transform 	every ‘x’ and ‘y’ coordinate into a 	coordinate ‘r’ using the formula of 	the ellipse. </a:t>
            </a:r>
          </a:p>
          <a:p>
            <a:endParaRPr lang="en-US" dirty="0"/>
          </a:p>
          <a:p>
            <a:r>
              <a:rPr lang="en-US" dirty="0"/>
              <a:t>Use ANY clustering algorithm. </a:t>
            </a:r>
          </a:p>
          <a:p>
            <a:endParaRPr lang="en-US" dirty="0"/>
          </a:p>
          <a:p>
            <a:r>
              <a:rPr lang="en-US" dirty="0"/>
              <a:t>Look at the evident clusters!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7DBBBD-7076-A453-4443-7FC1E28B2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327" y="530277"/>
            <a:ext cx="6826827" cy="546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25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D2B86F-C895-05FF-61D7-39BCEE465BF1}"/>
              </a:ext>
            </a:extLst>
          </p:cNvPr>
          <p:cNvSpPr txBox="1"/>
          <p:nvPr/>
        </p:nvSpPr>
        <p:spPr>
          <a:xfrm>
            <a:off x="1636253" y="2321004"/>
            <a:ext cx="891949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68019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9">
      <a:dk1>
        <a:srgbClr val="000000"/>
      </a:dk1>
      <a:lt1>
        <a:sysClr val="window" lastClr="FFFFFF"/>
      </a:lt1>
      <a:dk2>
        <a:srgbClr val="8439BD"/>
      </a:dk2>
      <a:lt2>
        <a:srgbClr val="FFFFFF"/>
      </a:lt2>
      <a:accent1>
        <a:srgbClr val="0EABB7"/>
      </a:accent1>
      <a:accent2>
        <a:srgbClr val="4868E5"/>
      </a:accent2>
      <a:accent3>
        <a:srgbClr val="20A472"/>
      </a:accent3>
      <a:accent4>
        <a:srgbClr val="B13DC8"/>
      </a:accent4>
      <a:accent5>
        <a:srgbClr val="172DA6"/>
      </a:accent5>
      <a:accent6>
        <a:srgbClr val="00B0F0"/>
      </a:accent6>
      <a:hlink>
        <a:srgbClr val="00B0F0"/>
      </a:hlink>
      <a:folHlink>
        <a:srgbClr val="B036B3"/>
      </a:folHlink>
    </a:clrScheme>
    <a:fontScheme name="Custom 26">
      <a:majorFont>
        <a:latin typeface="Speak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283905_win32_fixed" id="{D6B5527E-1465-4324-9D1A-59E4CD66E05C}" vid="{022E1543-F1D1-4CD4-8804-8287253A99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460</Words>
  <Application>Microsoft Office PowerPoint</Application>
  <PresentationFormat>Widescreen</PresentationFormat>
  <Paragraphs>74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Avenir Next LT Pro Light</vt:lpstr>
      <vt:lpstr>Calibri</vt:lpstr>
      <vt:lpstr>Cambria Math</vt:lpstr>
      <vt:lpstr>Consolas</vt:lpstr>
      <vt:lpstr>Speak Pro</vt:lpstr>
      <vt:lpstr>Office Theme</vt:lpstr>
      <vt:lpstr>DS Challenge #4</vt:lpstr>
      <vt:lpstr>Clustering</vt:lpstr>
      <vt:lpstr>Observations</vt:lpstr>
      <vt:lpstr>Experiments</vt:lpstr>
      <vt:lpstr>Manual algorithm building</vt:lpstr>
      <vt:lpstr>Mentos moment</vt:lpstr>
      <vt:lpstr>Mentos moment + Manual algorithm</vt:lpstr>
      <vt:lpstr>Mentos moment + Machine Learning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2021-11-11T23:05:29Z</dcterms:created>
  <dcterms:modified xsi:type="dcterms:W3CDTF">2023-07-26T02:02:24Z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0c2fedb-0da6-4717-8531-d16a1b9930f4_Enabled">
    <vt:lpwstr>true</vt:lpwstr>
  </property>
  <property fmtid="{D5CDD505-2E9C-101B-9397-08002B2CF9AE}" pid="3" name="MSIP_Label_90c2fedb-0da6-4717-8531-d16a1b9930f4_SetDate">
    <vt:lpwstr>2023-07-26T02:01:35Z</vt:lpwstr>
  </property>
  <property fmtid="{D5CDD505-2E9C-101B-9397-08002B2CF9AE}" pid="4" name="MSIP_Label_90c2fedb-0da6-4717-8531-d16a1b9930f4_Method">
    <vt:lpwstr>Standard</vt:lpwstr>
  </property>
  <property fmtid="{D5CDD505-2E9C-101B-9397-08002B2CF9AE}" pid="5" name="MSIP_Label_90c2fedb-0da6-4717-8531-d16a1b9930f4_Name">
    <vt:lpwstr>90c2fedb-0da6-4717-8531-d16a1b9930f4</vt:lpwstr>
  </property>
  <property fmtid="{D5CDD505-2E9C-101B-9397-08002B2CF9AE}" pid="6" name="MSIP_Label_90c2fedb-0da6-4717-8531-d16a1b9930f4_SiteId">
    <vt:lpwstr>45597f60-6e37-4be7-acfb-4c9e23b261ea</vt:lpwstr>
  </property>
  <property fmtid="{D5CDD505-2E9C-101B-9397-08002B2CF9AE}" pid="7" name="MSIP_Label_90c2fedb-0da6-4717-8531-d16a1b9930f4_ActionId">
    <vt:lpwstr>cc878b56-3f43-4313-bfdd-cebe6b16f749</vt:lpwstr>
  </property>
  <property fmtid="{D5CDD505-2E9C-101B-9397-08002B2CF9AE}" pid="8" name="MSIP_Label_90c2fedb-0da6-4717-8531-d16a1b9930f4_ContentBits">
    <vt:lpwstr>0</vt:lpwstr>
  </property>
  <property fmtid="{D5CDD505-2E9C-101B-9397-08002B2CF9AE}" pid="9" name="Sensitivity">
    <vt:lpwstr>Internal</vt:lpwstr>
  </property>
</Properties>
</file>